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459E03-5A76-4A0E-8E1F-07331A9A2569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1F856-3C8A-461D-8A4B-686C29108B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780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8CA60-8949-7A79-34D6-C662068DA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2723C4-7214-8EDC-193F-58CA81C16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FFE96-348E-19AA-825C-1755B6E79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D4058-5DCA-4933-9535-67BD7338443B}" type="datetime1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AFDF1-098F-BCE1-7839-31DF5F45E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Reverse Logistics Operations &amp; Returns Performance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5D924-4721-5BFB-9C54-6D948BD5A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9405-E599-4455-9F13-553121EE4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310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23B51-8366-6863-2E6C-B13EEB99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6D499-95E6-694E-158D-3492E30C7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5E670-05A7-5FC7-B165-8954043DE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723A-F8D9-47FC-9682-6FF7FAE46D62}" type="datetime1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2E5CC-B580-677F-8640-451A51747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Reverse Logistics Operations &amp; Returns Performance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94095-2B2F-7390-46FF-142D5D3E7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9405-E599-4455-9F13-553121EE4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205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C5E2-62BF-DA02-1B55-133D63C7A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BF735-D88F-4A31-9A1B-18C9FA986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40E12-D7D5-14A4-EED9-DCF9F655B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5C7CB-6E91-40D7-817E-157B464562DB}" type="datetime1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EC937-B896-9F5D-A98D-20A252A0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Reverse Logistics Operations &amp; Returns Performance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63841-BB69-EC13-2DC2-3A188B9E5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9405-E599-4455-9F13-553121EE4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738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F298E-A901-14F7-22A4-DAFF32F38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21427-F62C-4D79-2F82-6A633F239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C33649-E50B-AEB4-CBA5-6415A853D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FAAA8-2E49-0F98-B1D1-B7E709CCF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C3258-2118-4994-9BB8-A0F0F4B71426}" type="datetime1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FA496-D84C-ECDA-70BF-E70FE9056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Reverse Logistics Operations &amp; Returns Performance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2C754-8342-035F-21B5-6B5A4784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9405-E599-4455-9F13-553121EE4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186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8C54-AF36-26AA-4E9E-CDC93740D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BD47A-B245-5674-2323-486EBBC08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8365C-5121-3D6C-4903-75889DD32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60FB6A-48E2-CDCB-4DDD-D645506C1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3FBD01-F5F3-C5A9-4C4D-10260C726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8FCA9D-E83A-B665-A33E-9CAC83D3E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20810-E2D5-4E6B-A45C-F9EC5ACF72A8}" type="datetime1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ED614-C64C-F1CA-7083-8EB54B455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Reverse Logistics Operations &amp; Returns Performance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1D5CD1-43FB-E1EA-6BD2-47805464C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9405-E599-4455-9F13-553121EE4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78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38144-D31B-5E7F-A85D-7297FB6F5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CA2FE3-BB5A-2993-2AAE-4C13DBA35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D7578-7238-4201-9E0E-6443A06C4E0D}" type="datetime1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2B23C5-A859-F04D-1613-5A19BE6E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Reverse Logistics Operations &amp; Returns Performance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23729-C134-94E8-22A5-3BF6AC03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9405-E599-4455-9F13-553121EE4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37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97457E-CFDB-9F15-23C4-86D3B9B89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76D8-33C7-4DC5-B168-CD1B0949CB26}" type="datetime1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709222-C703-EAB0-0FCA-54C208B66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Reverse Logistics Operations &amp; Returns Performance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14710-EDC3-04B7-55C2-03F3EE1B6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9405-E599-4455-9F13-553121EE4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004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594E5-6730-2110-3465-3E052E620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A400D-E3C7-9CDE-763A-AC02CF904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467C85-CED9-C03E-36BA-E6BD7E309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CBC6A-0BF5-3FFD-FF19-7896E951A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C4B4-0173-4F99-A2F1-4A24304E104F}" type="datetime1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95321-A1D9-117A-2A18-DF39F78AD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Reverse Logistics Operations &amp; Returns Performance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939DA-15BC-CD8B-DF11-690E11B6C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9405-E599-4455-9F13-553121EE4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843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FF44-5A6A-AACF-1D2A-C6A088BF0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4C7C40-261C-2396-4363-9B126734D62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EC9F-F6F1-24AD-0158-2C100C902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0277E-D53C-201A-D6EE-36D8FE3CC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FB7E-2B95-434A-B8E3-D59BD661029A}" type="datetime1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2450C-C200-47BD-2EF5-0DF6E6D7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Reverse Logistics Operations &amp; Returns Performance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64182-7B7F-7FE6-C879-F2AE3065D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9405-E599-4455-9F13-553121EE4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206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5F4C1-166B-83CE-9FE3-5F9583EF6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ED2EE2-32DC-D8AC-588B-DA06062F4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00630-6302-B335-D9D0-909F46FDE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5F12F-5B6F-43CA-8505-ABEC8B42CEB9}" type="datetime1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D251E-7132-4CC1-BA11-B5937FC4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Reverse Logistics Operations &amp; Returns Performance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A94BC-1DCB-12C2-00E8-1A1044D04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9405-E599-4455-9F13-553121EE4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3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5B9FD-3E6F-B3C0-B69C-D344387625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49003B-0032-72E6-818B-90648C76F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CBF77-BCBF-8C29-0A4F-BA1BF2C33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CA574-130E-431E-BE2D-193CA7AE6BCE}" type="datetime1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8BC93-5FE4-2285-7149-09CEB6AF4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Reverse Logistics Operations &amp; Returns Performance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5C5DF-239D-7CCF-3476-E3552CA41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29405-E599-4455-9F13-553121EE4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715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611925-0A1A-F644-4B38-7EF5B7564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0AA00-AAF1-88D4-0A80-1B3B0F8ED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F1E8A-E6B7-CB86-7D32-CB3317F7D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13E030-34F2-4C6B-B1CE-5B3ED6700909}" type="datetime1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E8188-7ED3-E2E0-AD60-96E176EB1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Reverse Logistics Operations &amp; Returns Performance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4C3BF-5B7A-E21B-2EAE-133EA7B37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129405-E599-4455-9F13-553121EE4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113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6619F2-2567-9E09-8949-A340832F00A8}"/>
              </a:ext>
            </a:extLst>
          </p:cNvPr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F6988A-2175-7E74-8B2A-5F09B4AD0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8368"/>
            <a:ext cx="12192000" cy="36484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17B8E0-9595-50A1-3587-658CC182EFD8}"/>
              </a:ext>
            </a:extLst>
          </p:cNvPr>
          <p:cNvSpPr txBox="1"/>
          <p:nvPr/>
        </p:nvSpPr>
        <p:spPr>
          <a:xfrm>
            <a:off x="3352800" y="4538133"/>
            <a:ext cx="758613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Project Presentation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DA1205-C15C-C68C-2C17-B6B2726006A9}"/>
              </a:ext>
            </a:extLst>
          </p:cNvPr>
          <p:cNvSpPr txBox="1"/>
          <p:nvPr/>
        </p:nvSpPr>
        <p:spPr>
          <a:xfrm>
            <a:off x="2912533" y="5063067"/>
            <a:ext cx="80264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700" b="0">
                <a:solidFill>
                  <a:srgbClr val="66727C"/>
                </a:solidFill>
              </a:defRPr>
            </a:pPr>
            <a:r>
              <a:rPr lang="en-IN" b="1" dirty="0"/>
              <a:t>Supply Chain Operations Associate • Reverse Logistics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FE5F2B-2E1C-7BDD-AA52-951F57CFE4DF}"/>
              </a:ext>
            </a:extLst>
          </p:cNvPr>
          <p:cNvSpPr txBox="1"/>
          <p:nvPr/>
        </p:nvSpPr>
        <p:spPr>
          <a:xfrm>
            <a:off x="3420533" y="5586511"/>
            <a:ext cx="701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100" b="0">
                <a:solidFill>
                  <a:srgbClr val="66727C"/>
                </a:solidFill>
              </a:defRPr>
            </a:pPr>
            <a:r>
              <a:rPr lang="en-US" sz="1400" dirty="0"/>
              <a:t>Excel-based operational analysis • KPI monitoring • SLA &amp; returns performance</a:t>
            </a:r>
          </a:p>
        </p:txBody>
      </p:sp>
    </p:spTree>
    <p:extLst>
      <p:ext uri="{BB962C8B-B14F-4D97-AF65-F5344CB8AC3E}">
        <p14:creationId xmlns:p14="http://schemas.microsoft.com/office/powerpoint/2010/main" val="44790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07AFB5-A80B-A84C-513D-8D2956A7335C}"/>
              </a:ext>
            </a:extLst>
          </p:cNvPr>
          <p:cNvSpPr/>
          <p:nvPr/>
        </p:nvSpPr>
        <p:spPr>
          <a:xfrm>
            <a:off x="0" y="-1"/>
            <a:ext cx="12192000" cy="7132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611278-CE53-359C-A51E-34DC70A18F87}"/>
              </a:ext>
            </a:extLst>
          </p:cNvPr>
          <p:cNvSpPr txBox="1"/>
          <p:nvPr/>
        </p:nvSpPr>
        <p:spPr>
          <a:xfrm>
            <a:off x="73152" y="137160"/>
            <a:ext cx="260604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1. Project Objective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0CD43-9C0D-390F-4F8B-5ABDC603E942}"/>
              </a:ext>
            </a:extLst>
          </p:cNvPr>
          <p:cNvSpPr txBox="1"/>
          <p:nvPr/>
        </p:nvSpPr>
        <p:spPr>
          <a:xfrm>
            <a:off x="7958667" y="137160"/>
            <a:ext cx="3471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Project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A74CD7-F23C-F9F2-AD14-AF2E9062B5E6}"/>
              </a:ext>
            </a:extLst>
          </p:cNvPr>
          <p:cNvSpPr txBox="1"/>
          <p:nvPr/>
        </p:nvSpPr>
        <p:spPr>
          <a:xfrm>
            <a:off x="329184" y="969264"/>
            <a:ext cx="33375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Business context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A376AC-88E6-83FC-BCCD-7727B7861EA5}"/>
              </a:ext>
            </a:extLst>
          </p:cNvPr>
          <p:cNvSpPr txBox="1"/>
          <p:nvPr/>
        </p:nvSpPr>
        <p:spPr>
          <a:xfrm>
            <a:off x="329184" y="1572768"/>
            <a:ext cx="3136392" cy="2408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Analyze customer returns and reverse-logistics transactions.</a:t>
            </a:r>
          </a:p>
          <a:p>
            <a:pPr algn="just"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Track processing performance, refunds and SLA adherence.</a:t>
            </a:r>
          </a:p>
          <a:p>
            <a:pPr algn="just"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Identify patterns by warehouse, carrier, return reason and product.</a:t>
            </a:r>
          </a:p>
          <a:p>
            <a:pPr algn="just"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Convert transaction-level Excel data into clear management KPIs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A6096-C003-59F0-B9BA-9C9330C107A7}"/>
              </a:ext>
            </a:extLst>
          </p:cNvPr>
          <p:cNvSpPr txBox="1"/>
          <p:nvPr/>
        </p:nvSpPr>
        <p:spPr>
          <a:xfrm>
            <a:off x="6579108" y="969264"/>
            <a:ext cx="3268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Business relevance</a:t>
            </a:r>
          </a:p>
          <a:p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CA94D8-C564-D274-1F58-405B9A9F82FA}"/>
              </a:ext>
            </a:extLst>
          </p:cNvPr>
          <p:cNvSpPr/>
          <p:nvPr/>
        </p:nvSpPr>
        <p:spPr>
          <a:xfrm>
            <a:off x="5478441" y="1871627"/>
            <a:ext cx="2201334" cy="1303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B938B01-F74A-EB74-E6B6-0EFE7A3E49E4}"/>
              </a:ext>
            </a:extLst>
          </p:cNvPr>
          <p:cNvSpPr/>
          <p:nvPr/>
        </p:nvSpPr>
        <p:spPr>
          <a:xfrm>
            <a:off x="5478441" y="3420410"/>
            <a:ext cx="2201334" cy="1303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89C44A8-3626-EB17-F8DE-BAEE8C42085C}"/>
              </a:ext>
            </a:extLst>
          </p:cNvPr>
          <p:cNvSpPr/>
          <p:nvPr/>
        </p:nvSpPr>
        <p:spPr>
          <a:xfrm>
            <a:off x="8313546" y="3420410"/>
            <a:ext cx="2201334" cy="130386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A02CDF-B4F0-E78C-CCC0-0745F5393F5F}"/>
              </a:ext>
            </a:extLst>
          </p:cNvPr>
          <p:cNvSpPr/>
          <p:nvPr/>
        </p:nvSpPr>
        <p:spPr>
          <a:xfrm>
            <a:off x="8306138" y="1871627"/>
            <a:ext cx="2201334" cy="1303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95DD2FC-F929-3957-6049-4B4BCAC8ADD4}"/>
              </a:ext>
            </a:extLst>
          </p:cNvPr>
          <p:cNvSpPr/>
          <p:nvPr/>
        </p:nvSpPr>
        <p:spPr>
          <a:xfrm>
            <a:off x="5478441" y="1871626"/>
            <a:ext cx="2201334" cy="130386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A2EB090-C2A2-86FE-D2E4-BAB5CA1630B8}"/>
              </a:ext>
            </a:extLst>
          </p:cNvPr>
          <p:cNvSpPr/>
          <p:nvPr/>
        </p:nvSpPr>
        <p:spPr>
          <a:xfrm>
            <a:off x="5478441" y="3420409"/>
            <a:ext cx="2201334" cy="130386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6C25511-B62F-AA9D-BB6D-1CAAAE5655FC}"/>
              </a:ext>
            </a:extLst>
          </p:cNvPr>
          <p:cNvSpPr/>
          <p:nvPr/>
        </p:nvSpPr>
        <p:spPr>
          <a:xfrm>
            <a:off x="8306138" y="1871626"/>
            <a:ext cx="2201334" cy="130386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C73A12-3434-6754-8000-D72136682D7C}"/>
              </a:ext>
            </a:extLst>
          </p:cNvPr>
          <p:cNvSpPr txBox="1"/>
          <p:nvPr/>
        </p:nvSpPr>
        <p:spPr>
          <a:xfrm>
            <a:off x="5478441" y="2009775"/>
            <a:ext cx="2132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50" b="1">
                <a:solidFill>
                  <a:srgbClr val="66727C"/>
                </a:solidFill>
              </a:defRPr>
            </a:pPr>
            <a:r>
              <a:rPr lang="en-IN" sz="1400" dirty="0"/>
              <a:t>Data handled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FC3300-9D87-5205-7373-8A652FE0E4D5}"/>
              </a:ext>
            </a:extLst>
          </p:cNvPr>
          <p:cNvSpPr txBox="1"/>
          <p:nvPr/>
        </p:nvSpPr>
        <p:spPr>
          <a:xfrm>
            <a:off x="5538787" y="2523559"/>
            <a:ext cx="2208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500 records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ACFA9C-825B-6A83-5F37-ECE44CFEF742}"/>
              </a:ext>
            </a:extLst>
          </p:cNvPr>
          <p:cNvSpPr txBox="1"/>
          <p:nvPr/>
        </p:nvSpPr>
        <p:spPr>
          <a:xfrm>
            <a:off x="8313546" y="2009774"/>
            <a:ext cx="2040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50" b="1">
                <a:solidFill>
                  <a:srgbClr val="66727C"/>
                </a:solidFill>
              </a:defRPr>
            </a:pPr>
            <a:r>
              <a:rPr lang="en-IN" sz="1400" dirty="0"/>
              <a:t>SLA tracking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A5DB77-5396-39F3-EFC8-BD316C11F9D6}"/>
              </a:ext>
            </a:extLst>
          </p:cNvPr>
          <p:cNvSpPr txBox="1"/>
          <p:nvPr/>
        </p:nvSpPr>
        <p:spPr>
          <a:xfrm>
            <a:off x="8313545" y="2500620"/>
            <a:ext cx="218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58.6%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B235E2-4E7D-1957-8E8F-3DA705842EAC}"/>
              </a:ext>
            </a:extLst>
          </p:cNvPr>
          <p:cNvSpPr txBox="1"/>
          <p:nvPr/>
        </p:nvSpPr>
        <p:spPr>
          <a:xfrm>
            <a:off x="5538787" y="3567755"/>
            <a:ext cx="1924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Processing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532A05-DDCA-CBFB-AE56-E0E327913600}"/>
              </a:ext>
            </a:extLst>
          </p:cNvPr>
          <p:cNvSpPr txBox="1"/>
          <p:nvPr/>
        </p:nvSpPr>
        <p:spPr>
          <a:xfrm>
            <a:off x="5538787" y="4115238"/>
            <a:ext cx="2140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6.98 days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471CC5-CD72-8C5B-6688-B161C5094EAA}"/>
              </a:ext>
            </a:extLst>
          </p:cNvPr>
          <p:cNvSpPr txBox="1"/>
          <p:nvPr/>
        </p:nvSpPr>
        <p:spPr>
          <a:xfrm>
            <a:off x="8477249" y="3553400"/>
            <a:ext cx="1819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Refund value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350F11-F8A7-1FBC-1971-D2E8D6BEA8C3}"/>
              </a:ext>
            </a:extLst>
          </p:cNvPr>
          <p:cNvSpPr txBox="1"/>
          <p:nvPr/>
        </p:nvSpPr>
        <p:spPr>
          <a:xfrm>
            <a:off x="8306138" y="4124309"/>
            <a:ext cx="2193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₹2.9 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DB8A13-DA48-70A1-E25C-9FFE1866341D}"/>
              </a:ext>
            </a:extLst>
          </p:cNvPr>
          <p:cNvSpPr txBox="1"/>
          <p:nvPr/>
        </p:nvSpPr>
        <p:spPr>
          <a:xfrm>
            <a:off x="5324475" y="5172075"/>
            <a:ext cx="51829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Focus: transactional supply-chain execution, exception identification and operational reporting.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35333A4-EBAE-1B86-219A-E031D3469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00990"/>
          </a:xfrm>
        </p:spPr>
        <p:txBody>
          <a:bodyPr/>
          <a:lstStyle/>
          <a:p>
            <a:r>
              <a:rPr lang="en-US" dirty="0"/>
              <a:t>Reverse Logistics Operations &amp; Returns Performance</a:t>
            </a:r>
            <a:endParaRPr lang="en-IN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FBEF13F-A3E3-B0A6-C121-018727CA3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06345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F8347B-CD58-ADEC-28B1-A1E54F095790}"/>
              </a:ext>
            </a:extLst>
          </p:cNvPr>
          <p:cNvSpPr/>
          <p:nvPr/>
        </p:nvSpPr>
        <p:spPr>
          <a:xfrm>
            <a:off x="-1" y="0"/>
            <a:ext cx="12192001" cy="7143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0BFCB8-587A-54B5-77DA-7EC0BC671129}"/>
              </a:ext>
            </a:extLst>
          </p:cNvPr>
          <p:cNvSpPr txBox="1"/>
          <p:nvPr/>
        </p:nvSpPr>
        <p:spPr>
          <a:xfrm>
            <a:off x="152400" y="2095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2. Data &amp; Process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275413-8AF1-5743-EBDF-C5E0CB4F83C3}"/>
              </a:ext>
            </a:extLst>
          </p:cNvPr>
          <p:cNvSpPr txBox="1"/>
          <p:nvPr/>
        </p:nvSpPr>
        <p:spPr>
          <a:xfrm>
            <a:off x="9525000" y="209550"/>
            <a:ext cx="2514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Excel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3C016-5440-BD75-D3DA-6F2FA5799F62}"/>
              </a:ext>
            </a:extLst>
          </p:cNvPr>
          <p:cNvSpPr txBox="1"/>
          <p:nvPr/>
        </p:nvSpPr>
        <p:spPr>
          <a:xfrm>
            <a:off x="838200" y="1200150"/>
            <a:ext cx="290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Dataset scope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7544CB7-8D17-30EB-005E-6236B99EAD37}"/>
              </a:ext>
            </a:extLst>
          </p:cNvPr>
          <p:cNvSpPr/>
          <p:nvPr/>
        </p:nvSpPr>
        <p:spPr>
          <a:xfrm>
            <a:off x="838200" y="1943100"/>
            <a:ext cx="1852615" cy="8763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C02F12D-21CA-0683-F1D6-E49EC475324C}"/>
              </a:ext>
            </a:extLst>
          </p:cNvPr>
          <p:cNvSpPr/>
          <p:nvPr/>
        </p:nvSpPr>
        <p:spPr>
          <a:xfrm>
            <a:off x="2971800" y="1943100"/>
            <a:ext cx="1895475" cy="8763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14B217A-C212-BC6D-7359-B311192D09F0}"/>
              </a:ext>
            </a:extLst>
          </p:cNvPr>
          <p:cNvSpPr/>
          <p:nvPr/>
        </p:nvSpPr>
        <p:spPr>
          <a:xfrm>
            <a:off x="5148261" y="1943100"/>
            <a:ext cx="1895475" cy="8763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99664E-9FB1-2C93-69C6-093E8FE50F79}"/>
              </a:ext>
            </a:extLst>
          </p:cNvPr>
          <p:cNvSpPr txBox="1"/>
          <p:nvPr/>
        </p:nvSpPr>
        <p:spPr>
          <a:xfrm>
            <a:off x="1008738" y="2026158"/>
            <a:ext cx="1400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Transactions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A86694-197E-5C68-C309-C9D6EF12BC5A}"/>
              </a:ext>
            </a:extLst>
          </p:cNvPr>
          <p:cNvSpPr txBox="1"/>
          <p:nvPr/>
        </p:nvSpPr>
        <p:spPr>
          <a:xfrm>
            <a:off x="1038225" y="2431852"/>
            <a:ext cx="1400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500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632DA1-2146-E5C3-C67C-84DC20EAF1BB}"/>
              </a:ext>
            </a:extLst>
          </p:cNvPr>
          <p:cNvSpPr txBox="1"/>
          <p:nvPr/>
        </p:nvSpPr>
        <p:spPr>
          <a:xfrm>
            <a:off x="3182769" y="2025193"/>
            <a:ext cx="1628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Return quantity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6A806-C058-C5CC-16C4-8D536D37A447}"/>
              </a:ext>
            </a:extLst>
          </p:cNvPr>
          <p:cNvSpPr txBox="1"/>
          <p:nvPr/>
        </p:nvSpPr>
        <p:spPr>
          <a:xfrm>
            <a:off x="3076575" y="2431852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1,500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2121E1-7415-0700-E900-BE9D72F30F80}"/>
              </a:ext>
            </a:extLst>
          </p:cNvPr>
          <p:cNvSpPr txBox="1"/>
          <p:nvPr/>
        </p:nvSpPr>
        <p:spPr>
          <a:xfrm>
            <a:off x="5148260" y="2076761"/>
            <a:ext cx="1714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Return value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C7EDE8-2592-FA7D-356F-66D4E453496E}"/>
              </a:ext>
            </a:extLst>
          </p:cNvPr>
          <p:cNvSpPr txBox="1"/>
          <p:nvPr/>
        </p:nvSpPr>
        <p:spPr>
          <a:xfrm>
            <a:off x="5248275" y="2431852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₹14.1 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0C185C-D3AC-8C4E-3445-868391197ED7}"/>
              </a:ext>
            </a:extLst>
          </p:cNvPr>
          <p:cNvSpPr txBox="1"/>
          <p:nvPr/>
        </p:nvSpPr>
        <p:spPr>
          <a:xfrm>
            <a:off x="7915275" y="1230928"/>
            <a:ext cx="2228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Key fields used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0DA5B-27C6-29F3-B4C9-934CA4FA8435}"/>
              </a:ext>
            </a:extLst>
          </p:cNvPr>
          <p:cNvSpPr txBox="1"/>
          <p:nvPr/>
        </p:nvSpPr>
        <p:spPr>
          <a:xfrm>
            <a:off x="7915275" y="1943100"/>
            <a:ext cx="3152775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dirty="0"/>
              <a:t>• </a:t>
            </a:r>
            <a:r>
              <a:rPr lang="en-US" sz="1400" dirty="0"/>
              <a:t>Order &amp; return dates</a:t>
            </a:r>
          </a:p>
          <a:p>
            <a:pPr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Warehouse and region</a:t>
            </a:r>
          </a:p>
          <a:p>
            <a:pPr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Carrier and sales channel</a:t>
            </a:r>
          </a:p>
          <a:p>
            <a:pPr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Return reason and status</a:t>
            </a:r>
          </a:p>
          <a:p>
            <a:pPr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Inspection &amp; disposition</a:t>
            </a:r>
          </a:p>
          <a:p>
            <a:pPr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Refund status and amount</a:t>
            </a:r>
          </a:p>
          <a:p>
            <a:pPr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Processing days and SLA status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63B943-9F0E-A1D3-4964-36B56AE0FF54}"/>
              </a:ext>
            </a:extLst>
          </p:cNvPr>
          <p:cNvSpPr txBox="1"/>
          <p:nvPr/>
        </p:nvSpPr>
        <p:spPr>
          <a:xfrm>
            <a:off x="933450" y="3429000"/>
            <a:ext cx="3590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Operational workflow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81CC25-BF16-E75A-3072-0084E76E3DAB}"/>
              </a:ext>
            </a:extLst>
          </p:cNvPr>
          <p:cNvSpPr txBox="1"/>
          <p:nvPr/>
        </p:nvSpPr>
        <p:spPr>
          <a:xfrm>
            <a:off x="1038225" y="4200525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Return received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DB44D8-F54A-4420-32C7-111EDCCE41E1}"/>
              </a:ext>
            </a:extLst>
          </p:cNvPr>
          <p:cNvSpPr txBox="1"/>
          <p:nvPr/>
        </p:nvSpPr>
        <p:spPr>
          <a:xfrm>
            <a:off x="2886074" y="4174480"/>
            <a:ext cx="13906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Inspection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99F451-56F9-D2BC-A80C-D7BD40C8D203}"/>
              </a:ext>
            </a:extLst>
          </p:cNvPr>
          <p:cNvSpPr txBox="1"/>
          <p:nvPr/>
        </p:nvSpPr>
        <p:spPr>
          <a:xfrm>
            <a:off x="4524375" y="4174480"/>
            <a:ext cx="1200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Disposition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134EE6-4DC6-D71C-2101-753B32CEFAB8}"/>
              </a:ext>
            </a:extLst>
          </p:cNvPr>
          <p:cNvSpPr txBox="1"/>
          <p:nvPr/>
        </p:nvSpPr>
        <p:spPr>
          <a:xfrm>
            <a:off x="1152525" y="5181600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Refund / inventory update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C62D88-B070-5B58-4127-739B28AC384C}"/>
              </a:ext>
            </a:extLst>
          </p:cNvPr>
          <p:cNvSpPr txBox="1"/>
          <p:nvPr/>
        </p:nvSpPr>
        <p:spPr>
          <a:xfrm>
            <a:off x="3552825" y="5181600"/>
            <a:ext cx="12001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SLA monitoring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2E9EE5-04A9-C4F0-F894-543892859C1B}"/>
              </a:ext>
            </a:extLst>
          </p:cNvPr>
          <p:cNvSpPr/>
          <p:nvPr/>
        </p:nvSpPr>
        <p:spPr>
          <a:xfrm>
            <a:off x="728663" y="4174480"/>
            <a:ext cx="371475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2AFDE1-C457-C03B-1EB4-398E2E4BF843}"/>
              </a:ext>
            </a:extLst>
          </p:cNvPr>
          <p:cNvSpPr/>
          <p:nvPr/>
        </p:nvSpPr>
        <p:spPr>
          <a:xfrm>
            <a:off x="3224210" y="5181600"/>
            <a:ext cx="371475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04C3FC2-4851-6D93-28AB-70F236DE4F8A}"/>
              </a:ext>
            </a:extLst>
          </p:cNvPr>
          <p:cNvSpPr/>
          <p:nvPr/>
        </p:nvSpPr>
        <p:spPr>
          <a:xfrm>
            <a:off x="838200" y="5215622"/>
            <a:ext cx="371475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C1696F2-9C65-0AB1-1889-603F7C6BE77F}"/>
              </a:ext>
            </a:extLst>
          </p:cNvPr>
          <p:cNvSpPr/>
          <p:nvPr/>
        </p:nvSpPr>
        <p:spPr>
          <a:xfrm>
            <a:off x="2562224" y="4142214"/>
            <a:ext cx="371475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5F5408D-9FFB-3D61-9ABE-53C91A1C7CB8}"/>
              </a:ext>
            </a:extLst>
          </p:cNvPr>
          <p:cNvSpPr/>
          <p:nvPr/>
        </p:nvSpPr>
        <p:spPr>
          <a:xfrm>
            <a:off x="4181476" y="4142214"/>
            <a:ext cx="371475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39F40110-792D-1FA9-79FA-392AFB0F8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6299" y="6469489"/>
            <a:ext cx="4114800" cy="276999"/>
          </a:xfrm>
        </p:spPr>
        <p:txBody>
          <a:bodyPr/>
          <a:lstStyle/>
          <a:p>
            <a:r>
              <a:rPr lang="en-US" dirty="0"/>
              <a:t>Reverse Logistics Operations &amp; Returns Performance</a:t>
            </a:r>
            <a:endParaRPr lang="en-IN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CBF53D96-50F4-F68A-3733-55BDC2208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69489"/>
            <a:ext cx="2743200" cy="251986"/>
          </a:xfrm>
        </p:spPr>
        <p:txBody>
          <a:bodyPr/>
          <a:lstStyle/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35340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A6008D-831A-C0AE-CE23-BE9E8774F392}"/>
              </a:ext>
            </a:extLst>
          </p:cNvPr>
          <p:cNvSpPr/>
          <p:nvPr/>
        </p:nvSpPr>
        <p:spPr>
          <a:xfrm>
            <a:off x="0" y="0"/>
            <a:ext cx="12192000" cy="657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220844-1631-E308-482B-82E732570FC6}"/>
              </a:ext>
            </a:extLst>
          </p:cNvPr>
          <p:cNvSpPr txBox="1"/>
          <p:nvPr/>
        </p:nvSpPr>
        <p:spPr>
          <a:xfrm>
            <a:off x="66675" y="161925"/>
            <a:ext cx="382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3. Executive KPI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576A97-F3E7-00A4-2201-7303E28C8B5B}"/>
              </a:ext>
            </a:extLst>
          </p:cNvPr>
          <p:cNvSpPr txBox="1"/>
          <p:nvPr/>
        </p:nvSpPr>
        <p:spPr>
          <a:xfrm>
            <a:off x="9782175" y="143946"/>
            <a:ext cx="2276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00" b="0">
                <a:solidFill>
                  <a:srgbClr val="D7EBF5"/>
                </a:solidFill>
              </a:defRPr>
            </a:pPr>
            <a:r>
              <a:rPr lang="en-IN" sz="1400" dirty="0">
                <a:solidFill>
                  <a:schemeClr val="bg1"/>
                </a:solidFill>
              </a:rPr>
              <a:t>Current project results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B994611-8980-CC41-AA6E-CCEC47E37484}"/>
              </a:ext>
            </a:extLst>
          </p:cNvPr>
          <p:cNvSpPr/>
          <p:nvPr/>
        </p:nvSpPr>
        <p:spPr>
          <a:xfrm>
            <a:off x="571500" y="1443034"/>
            <a:ext cx="1819275" cy="96202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095740-A1AD-72B0-DCF1-AD9AF876C65C}"/>
              </a:ext>
            </a:extLst>
          </p:cNvPr>
          <p:cNvSpPr/>
          <p:nvPr/>
        </p:nvSpPr>
        <p:spPr>
          <a:xfrm>
            <a:off x="2881311" y="1443034"/>
            <a:ext cx="1819276" cy="96202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4DA3920-2BC2-729E-45D5-D91A2182D5B8}"/>
              </a:ext>
            </a:extLst>
          </p:cNvPr>
          <p:cNvSpPr/>
          <p:nvPr/>
        </p:nvSpPr>
        <p:spPr>
          <a:xfrm>
            <a:off x="571499" y="2757487"/>
            <a:ext cx="1819275" cy="96202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6C8703-1FE9-F207-0BD8-BE99D966D398}"/>
              </a:ext>
            </a:extLst>
          </p:cNvPr>
          <p:cNvSpPr/>
          <p:nvPr/>
        </p:nvSpPr>
        <p:spPr>
          <a:xfrm>
            <a:off x="2881311" y="2819400"/>
            <a:ext cx="1819276" cy="96202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E3B0097-C319-5065-7137-400D97C61003}"/>
              </a:ext>
            </a:extLst>
          </p:cNvPr>
          <p:cNvSpPr/>
          <p:nvPr/>
        </p:nvSpPr>
        <p:spPr>
          <a:xfrm>
            <a:off x="5191123" y="2871787"/>
            <a:ext cx="1890713" cy="96202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01C5753-C284-949D-2AFF-DAB56E1EB7F2}"/>
              </a:ext>
            </a:extLst>
          </p:cNvPr>
          <p:cNvSpPr/>
          <p:nvPr/>
        </p:nvSpPr>
        <p:spPr>
          <a:xfrm>
            <a:off x="7572373" y="2819400"/>
            <a:ext cx="1990725" cy="96202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C86C82-08F3-2522-0EDB-5BE0082A6695}"/>
              </a:ext>
            </a:extLst>
          </p:cNvPr>
          <p:cNvSpPr/>
          <p:nvPr/>
        </p:nvSpPr>
        <p:spPr>
          <a:xfrm>
            <a:off x="5191123" y="1443034"/>
            <a:ext cx="1890713" cy="96202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5C77276-C143-DAF1-85AB-A2E8C665EAC5}"/>
              </a:ext>
            </a:extLst>
          </p:cNvPr>
          <p:cNvSpPr/>
          <p:nvPr/>
        </p:nvSpPr>
        <p:spPr>
          <a:xfrm>
            <a:off x="7572373" y="1443034"/>
            <a:ext cx="1990725" cy="96202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86EDEB-01CC-C4F9-6F32-143B360E6154}"/>
              </a:ext>
            </a:extLst>
          </p:cNvPr>
          <p:cNvSpPr txBox="1"/>
          <p:nvPr/>
        </p:nvSpPr>
        <p:spPr>
          <a:xfrm>
            <a:off x="685800" y="1609725"/>
            <a:ext cx="1514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Total Returns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B6B640-3500-4E1F-E86C-42E9644EA5CB}"/>
              </a:ext>
            </a:extLst>
          </p:cNvPr>
          <p:cNvSpPr txBox="1"/>
          <p:nvPr/>
        </p:nvSpPr>
        <p:spPr>
          <a:xfrm>
            <a:off x="2981325" y="1609725"/>
            <a:ext cx="1466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Return Quantity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CE4A60-B922-62C8-2361-074771FD8772}"/>
              </a:ext>
            </a:extLst>
          </p:cNvPr>
          <p:cNvSpPr txBox="1"/>
          <p:nvPr/>
        </p:nvSpPr>
        <p:spPr>
          <a:xfrm>
            <a:off x="781050" y="1962150"/>
            <a:ext cx="981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8F0B9D-2CB9-DBD9-9A80-F6E71A8721A1}"/>
              </a:ext>
            </a:extLst>
          </p:cNvPr>
          <p:cNvSpPr txBox="1"/>
          <p:nvPr/>
        </p:nvSpPr>
        <p:spPr>
          <a:xfrm>
            <a:off x="3048000" y="1962150"/>
            <a:ext cx="132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1,500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70FD45-571F-003C-5E55-30F744162E10}"/>
              </a:ext>
            </a:extLst>
          </p:cNvPr>
          <p:cNvSpPr txBox="1"/>
          <p:nvPr/>
        </p:nvSpPr>
        <p:spPr>
          <a:xfrm>
            <a:off x="5191123" y="1580614"/>
            <a:ext cx="157162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050" b="1">
                <a:solidFill>
                  <a:srgbClr val="66727C"/>
                </a:solidFill>
              </a:defRPr>
            </a:pPr>
            <a:r>
              <a:rPr lang="en-IN"/>
              <a:t>Return Value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0BA4A0-4E36-393C-ED84-F50477F3D83B}"/>
              </a:ext>
            </a:extLst>
          </p:cNvPr>
          <p:cNvSpPr txBox="1"/>
          <p:nvPr/>
        </p:nvSpPr>
        <p:spPr>
          <a:xfrm>
            <a:off x="5334000" y="1924046"/>
            <a:ext cx="142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₹14.1 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448CE8-CA5D-6739-729F-73730C90B995}"/>
              </a:ext>
            </a:extLst>
          </p:cNvPr>
          <p:cNvSpPr txBox="1"/>
          <p:nvPr/>
        </p:nvSpPr>
        <p:spPr>
          <a:xfrm>
            <a:off x="7572373" y="1609725"/>
            <a:ext cx="17383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Pending Returns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761394-0122-EA94-3D2C-90B4DF5BE6EA}"/>
              </a:ext>
            </a:extLst>
          </p:cNvPr>
          <p:cNvSpPr txBox="1"/>
          <p:nvPr/>
        </p:nvSpPr>
        <p:spPr>
          <a:xfrm>
            <a:off x="7705725" y="1962150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88105-554E-ABC9-D5FC-21E79A09868D}"/>
              </a:ext>
            </a:extLst>
          </p:cNvPr>
          <p:cNvSpPr txBox="1"/>
          <p:nvPr/>
        </p:nvSpPr>
        <p:spPr>
          <a:xfrm>
            <a:off x="685799" y="2871787"/>
            <a:ext cx="1514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Completed Returns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060D58-1000-4A2D-FCD5-DBFD48E1EA76}"/>
              </a:ext>
            </a:extLst>
          </p:cNvPr>
          <p:cNvSpPr txBox="1"/>
          <p:nvPr/>
        </p:nvSpPr>
        <p:spPr>
          <a:xfrm>
            <a:off x="685799" y="3300412"/>
            <a:ext cx="1514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125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AD62A0-C80F-7327-B4F2-057B76C9DE63}"/>
              </a:ext>
            </a:extLst>
          </p:cNvPr>
          <p:cNvSpPr txBox="1"/>
          <p:nvPr/>
        </p:nvSpPr>
        <p:spPr>
          <a:xfrm>
            <a:off x="2981325" y="3000375"/>
            <a:ext cx="15716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Refunded Amount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9D5ED0-4D58-1A24-35CE-E5072F966C07}"/>
              </a:ext>
            </a:extLst>
          </p:cNvPr>
          <p:cNvSpPr txBox="1"/>
          <p:nvPr/>
        </p:nvSpPr>
        <p:spPr>
          <a:xfrm>
            <a:off x="3002755" y="3300412"/>
            <a:ext cx="150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₹2.9 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3BEB04-8F4F-59D7-8216-416B1E9566E4}"/>
              </a:ext>
            </a:extLst>
          </p:cNvPr>
          <p:cNvSpPr txBox="1"/>
          <p:nvPr/>
        </p:nvSpPr>
        <p:spPr>
          <a:xfrm>
            <a:off x="5334000" y="3010286"/>
            <a:ext cx="16097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err="1"/>
              <a:t>Avg</a:t>
            </a:r>
            <a:r>
              <a:rPr lang="en-IN" sz="1200" dirty="0"/>
              <a:t> Processing Days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2D0456-E18D-895B-F4B4-2FBA78F660A6}"/>
              </a:ext>
            </a:extLst>
          </p:cNvPr>
          <p:cNvSpPr txBox="1"/>
          <p:nvPr/>
        </p:nvSpPr>
        <p:spPr>
          <a:xfrm>
            <a:off x="5400675" y="3429000"/>
            <a:ext cx="1438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6.98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BDC22D-8E02-C0E0-C3B3-D3F65C8FD655}"/>
              </a:ext>
            </a:extLst>
          </p:cNvPr>
          <p:cNvSpPr txBox="1"/>
          <p:nvPr/>
        </p:nvSpPr>
        <p:spPr>
          <a:xfrm>
            <a:off x="7705725" y="3010286"/>
            <a:ext cx="1714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SLA Compliance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F485F2-7A6A-3258-BC2C-C81C40962FD5}"/>
              </a:ext>
            </a:extLst>
          </p:cNvPr>
          <p:cNvSpPr txBox="1"/>
          <p:nvPr/>
        </p:nvSpPr>
        <p:spPr>
          <a:xfrm>
            <a:off x="7705725" y="3332294"/>
            <a:ext cx="160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58.6%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D6BB4E-F934-B367-BF26-3A42975160D8}"/>
              </a:ext>
            </a:extLst>
          </p:cNvPr>
          <p:cNvSpPr txBox="1"/>
          <p:nvPr/>
        </p:nvSpPr>
        <p:spPr>
          <a:xfrm>
            <a:off x="685799" y="4705350"/>
            <a:ext cx="9315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Management message: returns volume is high, processing averages nearly 7 days, and SLA compliance is the main improvement opportunity.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2F41C-1AA4-2472-A591-362E6F4F9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3911" y="6379607"/>
            <a:ext cx="4114800" cy="316468"/>
          </a:xfrm>
        </p:spPr>
        <p:txBody>
          <a:bodyPr/>
          <a:lstStyle/>
          <a:p>
            <a:r>
              <a:rPr lang="en-US" dirty="0"/>
              <a:t>Reverse Logistics Operations &amp; Returns Performance</a:t>
            </a:r>
            <a:endParaRPr lang="en-IN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4964DE01-4B8B-98ED-A26E-5E1118630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5007"/>
            <a:ext cx="2743200" cy="316468"/>
          </a:xfrm>
        </p:spPr>
        <p:txBody>
          <a:bodyPr/>
          <a:lstStyle/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51554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3DACAD-C855-6A55-4D84-9B14EE55C571}"/>
              </a:ext>
            </a:extLst>
          </p:cNvPr>
          <p:cNvSpPr/>
          <p:nvPr/>
        </p:nvSpPr>
        <p:spPr>
          <a:xfrm>
            <a:off x="1" y="0"/>
            <a:ext cx="12192000" cy="6286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8E9202-0754-862B-7ADE-758022DD821B}"/>
              </a:ext>
            </a:extLst>
          </p:cNvPr>
          <p:cNvSpPr txBox="1"/>
          <p:nvPr/>
        </p:nvSpPr>
        <p:spPr>
          <a:xfrm>
            <a:off x="161925" y="190500"/>
            <a:ext cx="4124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4. Operational Performance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D1DEA9-9AF6-FC87-F4C1-0406BE6A0B37}"/>
              </a:ext>
            </a:extLst>
          </p:cNvPr>
          <p:cNvSpPr txBox="1"/>
          <p:nvPr/>
        </p:nvSpPr>
        <p:spPr>
          <a:xfrm>
            <a:off x="9782175" y="190500"/>
            <a:ext cx="2181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Warehouse &amp; carrier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A627E8-AB6B-E437-5DB3-D502A252B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74" y="1419225"/>
            <a:ext cx="4749467" cy="31402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6E619E-639B-4666-2CC5-C12C3E3E81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399" y="1352550"/>
            <a:ext cx="4496427" cy="3130735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65CE1F-EF25-B1C4-D2A6-417788C0633B}"/>
              </a:ext>
            </a:extLst>
          </p:cNvPr>
          <p:cNvSpPr/>
          <p:nvPr/>
        </p:nvSpPr>
        <p:spPr>
          <a:xfrm>
            <a:off x="971550" y="1352550"/>
            <a:ext cx="4991100" cy="338137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10FB4C7-5438-7800-E35E-0AEF1B522256}"/>
              </a:ext>
            </a:extLst>
          </p:cNvPr>
          <p:cNvSpPr/>
          <p:nvPr/>
        </p:nvSpPr>
        <p:spPr>
          <a:xfrm>
            <a:off x="6372225" y="1352550"/>
            <a:ext cx="4848225" cy="338137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710DC8-104B-D190-62D8-1D00BD636330}"/>
              </a:ext>
            </a:extLst>
          </p:cNvPr>
          <p:cNvSpPr txBox="1"/>
          <p:nvPr/>
        </p:nvSpPr>
        <p:spPr>
          <a:xfrm>
            <a:off x="1066174" y="5257800"/>
            <a:ext cx="4749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200" dirty="0"/>
              <a:t>Kolkata has the highest return value at ₹1.7M. However, each warehouse shows exactly 34 returns, so the transaction counts may look unrealistically equal.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EB3F3C-9679-C60C-591C-60A029FAAFB1}"/>
              </a:ext>
            </a:extLst>
          </p:cNvPr>
          <p:cNvSpPr txBox="1"/>
          <p:nvPr/>
        </p:nvSpPr>
        <p:spPr>
          <a:xfrm>
            <a:off x="6858312" y="5257800"/>
            <a:ext cx="403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200" dirty="0"/>
              <a:t>The values are 167, 167, and 166. The vertical axis starts at 165.4, which exaggerates the small differences.</a:t>
            </a:r>
            <a:endParaRPr lang="en-US" sz="1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F0A20-AA46-5682-1B90-A6D6251FA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66174" y="6356350"/>
            <a:ext cx="4114800" cy="311150"/>
          </a:xfrm>
        </p:spPr>
        <p:txBody>
          <a:bodyPr/>
          <a:lstStyle/>
          <a:p>
            <a:r>
              <a:rPr lang="en-US" dirty="0"/>
              <a:t>Reverse Logistics Operations &amp; Returns Performance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37163-E4EF-DE91-DE8E-90300B392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10325"/>
            <a:ext cx="2743200" cy="311150"/>
          </a:xfrm>
        </p:spPr>
        <p:txBody>
          <a:bodyPr/>
          <a:lstStyle/>
          <a:p>
            <a:r>
              <a:rPr lang="en-I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1817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E5E9AE-8BF7-7171-86C3-491F0E61B4F7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AC4B02-6D8A-599E-AA18-53351F44BCB3}"/>
              </a:ext>
            </a:extLst>
          </p:cNvPr>
          <p:cNvSpPr txBox="1"/>
          <p:nvPr/>
        </p:nvSpPr>
        <p:spPr>
          <a:xfrm>
            <a:off x="123825" y="190500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5. SLA &amp; Refund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F97B8-58B0-0E7A-B4F2-680175621694}"/>
              </a:ext>
            </a:extLst>
          </p:cNvPr>
          <p:cNvSpPr txBox="1"/>
          <p:nvPr/>
        </p:nvSpPr>
        <p:spPr>
          <a:xfrm>
            <a:off x="8820150" y="285750"/>
            <a:ext cx="3248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Exceptions and financial impact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3A2CA8-E5C6-23CB-DAB1-5AB6D6C41B9D}"/>
              </a:ext>
            </a:extLst>
          </p:cNvPr>
          <p:cNvSpPr/>
          <p:nvPr/>
        </p:nvSpPr>
        <p:spPr>
          <a:xfrm>
            <a:off x="666750" y="990600"/>
            <a:ext cx="1876425" cy="85725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1BDBBE-19B6-8BA6-CC84-35F286B6F9F6}"/>
              </a:ext>
            </a:extLst>
          </p:cNvPr>
          <p:cNvSpPr/>
          <p:nvPr/>
        </p:nvSpPr>
        <p:spPr>
          <a:xfrm>
            <a:off x="2912268" y="990600"/>
            <a:ext cx="1876425" cy="85725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EC5DF1D-1011-2D40-C1B0-DA97BA2D55DC}"/>
              </a:ext>
            </a:extLst>
          </p:cNvPr>
          <p:cNvSpPr/>
          <p:nvPr/>
        </p:nvSpPr>
        <p:spPr>
          <a:xfrm>
            <a:off x="5157787" y="990600"/>
            <a:ext cx="1876425" cy="85725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0A145C-5A8E-AB57-8A21-E63FC435A8C5}"/>
              </a:ext>
            </a:extLst>
          </p:cNvPr>
          <p:cNvSpPr/>
          <p:nvPr/>
        </p:nvSpPr>
        <p:spPr>
          <a:xfrm>
            <a:off x="7403306" y="990600"/>
            <a:ext cx="1876425" cy="85725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3ADC81-C051-0D15-6F47-3A044F07A52A}"/>
              </a:ext>
            </a:extLst>
          </p:cNvPr>
          <p:cNvSpPr txBox="1"/>
          <p:nvPr/>
        </p:nvSpPr>
        <p:spPr>
          <a:xfrm>
            <a:off x="666750" y="990600"/>
            <a:ext cx="1876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Within SLA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70AEFF-E5FB-38B7-D5D4-06B9A3A4A127}"/>
              </a:ext>
            </a:extLst>
          </p:cNvPr>
          <p:cNvSpPr txBox="1"/>
          <p:nvPr/>
        </p:nvSpPr>
        <p:spPr>
          <a:xfrm>
            <a:off x="666750" y="1267599"/>
            <a:ext cx="187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293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54F2F8-704D-F31A-24FC-C176AC310BA0}"/>
              </a:ext>
            </a:extLst>
          </p:cNvPr>
          <p:cNvSpPr txBox="1"/>
          <p:nvPr/>
        </p:nvSpPr>
        <p:spPr>
          <a:xfrm>
            <a:off x="3021807" y="1082933"/>
            <a:ext cx="18073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SLA Breached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5C2DCB-CDA1-F4EF-BECF-9C49F6BDEFC6}"/>
              </a:ext>
            </a:extLst>
          </p:cNvPr>
          <p:cNvSpPr txBox="1"/>
          <p:nvPr/>
        </p:nvSpPr>
        <p:spPr>
          <a:xfrm>
            <a:off x="3021807" y="1396663"/>
            <a:ext cx="1607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207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55BD3A-0C7D-41FD-A290-4272C1F0F6D8}"/>
              </a:ext>
            </a:extLst>
          </p:cNvPr>
          <p:cNvSpPr txBox="1"/>
          <p:nvPr/>
        </p:nvSpPr>
        <p:spPr>
          <a:xfrm>
            <a:off x="5238750" y="1142226"/>
            <a:ext cx="1685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SLA Compliance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413599-764E-0BCD-43EA-376819126CD2}"/>
              </a:ext>
            </a:extLst>
          </p:cNvPr>
          <p:cNvSpPr txBox="1"/>
          <p:nvPr/>
        </p:nvSpPr>
        <p:spPr>
          <a:xfrm>
            <a:off x="5238750" y="1452265"/>
            <a:ext cx="1466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58.6%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24B050-652A-1C6C-519E-D4A288EF74C2}"/>
              </a:ext>
            </a:extLst>
          </p:cNvPr>
          <p:cNvSpPr txBox="1"/>
          <p:nvPr/>
        </p:nvSpPr>
        <p:spPr>
          <a:xfrm>
            <a:off x="7403306" y="1142226"/>
            <a:ext cx="17668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Refunded Value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C8A530-44AA-E716-E19F-C240FB365114}"/>
              </a:ext>
            </a:extLst>
          </p:cNvPr>
          <p:cNvSpPr txBox="1"/>
          <p:nvPr/>
        </p:nvSpPr>
        <p:spPr>
          <a:xfrm>
            <a:off x="7496175" y="1452265"/>
            <a:ext cx="155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₹2.9 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E595C84-A978-4794-62F1-02C148EB6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884" y="2447775"/>
            <a:ext cx="3514941" cy="21529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E4AF729-F2F9-2825-DCA0-E4A5A30E6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041" y="2447775"/>
            <a:ext cx="3600953" cy="2152950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82A8172-3524-1307-54DA-0EBD4CEBBCD2}"/>
              </a:ext>
            </a:extLst>
          </p:cNvPr>
          <p:cNvSpPr/>
          <p:nvPr/>
        </p:nvSpPr>
        <p:spPr>
          <a:xfrm>
            <a:off x="857250" y="2447775"/>
            <a:ext cx="4152900" cy="235282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2E49EF6-EF4C-4437-19E8-4B58618C3DEF}"/>
              </a:ext>
            </a:extLst>
          </p:cNvPr>
          <p:cNvSpPr/>
          <p:nvPr/>
        </p:nvSpPr>
        <p:spPr>
          <a:xfrm>
            <a:off x="6162674" y="2447775"/>
            <a:ext cx="4152900" cy="235282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214E9E-53E2-2524-0F9D-72D267A10DC8}"/>
              </a:ext>
            </a:extLst>
          </p:cNvPr>
          <p:cNvSpPr txBox="1"/>
          <p:nvPr/>
        </p:nvSpPr>
        <p:spPr>
          <a:xfrm>
            <a:off x="981075" y="5120759"/>
            <a:ext cx="3714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200" dirty="0"/>
              <a:t>41.4% of returns breached SLA. Focus on reducing delays and completing return processing within the target time.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099DF3-89B6-0464-4761-3028656B9978}"/>
              </a:ext>
            </a:extLst>
          </p:cNvPr>
          <p:cNvSpPr txBox="1"/>
          <p:nvPr/>
        </p:nvSpPr>
        <p:spPr>
          <a:xfrm>
            <a:off x="6238875" y="5120759"/>
            <a:ext cx="4076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₹2.9 million in refunds were processed. Monitor refund accuracy and ensure eligible customers receive refunds on time.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86E97B-7C61-357D-0F75-867B94649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987" y="6457950"/>
            <a:ext cx="4114800" cy="263525"/>
          </a:xfrm>
        </p:spPr>
        <p:txBody>
          <a:bodyPr/>
          <a:lstStyle/>
          <a:p>
            <a:r>
              <a:rPr lang="en-US"/>
              <a:t>Reverse Logistics Operations &amp; Returns Performance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E1A894-9E5F-E5E0-717A-22BF6741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57950"/>
            <a:ext cx="2743200" cy="263525"/>
          </a:xfrm>
        </p:spPr>
        <p:txBody>
          <a:bodyPr/>
          <a:lstStyle/>
          <a:p>
            <a:r>
              <a:rPr lang="en-IN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040301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EA7A9F-5B28-FBB4-F2CE-CE546C08D6C2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47DBA-52AB-0921-0698-D87801578F11}"/>
              </a:ext>
            </a:extLst>
          </p:cNvPr>
          <p:cNvSpPr txBox="1"/>
          <p:nvPr/>
        </p:nvSpPr>
        <p:spPr>
          <a:xfrm>
            <a:off x="104775" y="1333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6. Key Insights &amp; 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212EDD-C8E9-9967-0451-D647F1F00A8D}"/>
              </a:ext>
            </a:extLst>
          </p:cNvPr>
          <p:cNvSpPr txBox="1"/>
          <p:nvPr/>
        </p:nvSpPr>
        <p:spPr>
          <a:xfrm>
            <a:off x="8582026" y="266700"/>
            <a:ext cx="3371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00" b="0">
                <a:solidFill>
                  <a:srgbClr val="D7EBF5"/>
                </a:solidFill>
              </a:defRPr>
            </a:pPr>
            <a:r>
              <a:rPr lang="en-US" sz="1400" dirty="0"/>
              <a:t>What I would do operationally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69FA6-77C6-F166-4467-57E8F915C937}"/>
              </a:ext>
            </a:extLst>
          </p:cNvPr>
          <p:cNvSpPr txBox="1"/>
          <p:nvPr/>
        </p:nvSpPr>
        <p:spPr>
          <a:xfrm>
            <a:off x="533400" y="1266825"/>
            <a:ext cx="2200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Key observations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625244-2A8F-2F0E-514A-9D523403F74A}"/>
              </a:ext>
            </a:extLst>
          </p:cNvPr>
          <p:cNvSpPr txBox="1"/>
          <p:nvPr/>
        </p:nvSpPr>
        <p:spPr>
          <a:xfrm>
            <a:off x="628650" y="1714500"/>
            <a:ext cx="3714750" cy="3108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500 return transactions create a meaningful processing workload.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Average processing time is 6.98 days.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SLA compliance is 58.6%; 207 transactions are outside SLA.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Refunded value totals ₹2.9M.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Customer Changed Mind is the most frequent return reason.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DEDA26-762A-1520-6B24-8102C512BA4E}"/>
              </a:ext>
            </a:extLst>
          </p:cNvPr>
          <p:cNvSpPr txBox="1"/>
          <p:nvPr/>
        </p:nvSpPr>
        <p:spPr>
          <a:xfrm>
            <a:off x="6696075" y="1260991"/>
            <a:ext cx="3905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Recommended</a:t>
            </a:r>
            <a:r>
              <a:rPr lang="en-IN" sz="1600" dirty="0"/>
              <a:t> actions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CD0E4A-DA9A-C09D-C19E-B68DC1291042}"/>
              </a:ext>
            </a:extLst>
          </p:cNvPr>
          <p:cNvSpPr txBox="1"/>
          <p:nvPr/>
        </p:nvSpPr>
        <p:spPr>
          <a:xfrm>
            <a:off x="6657975" y="1714500"/>
            <a:ext cx="3981450" cy="347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Prioritize SLA-breached orders using an exception queue.</a:t>
            </a:r>
          </a:p>
          <a:p>
            <a:pPr>
              <a:lnSpc>
                <a:spcPct val="150000"/>
              </a:lnSpc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Track aging returns daily and escalate items approaching SLA limits.</a:t>
            </a:r>
          </a:p>
          <a:p>
            <a:pPr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Review warehouse workload and rebalance where practical.</a:t>
            </a:r>
          </a:p>
          <a:p>
            <a:pPr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Use return-reason trends to target product, packaging or process issues.</a:t>
            </a:r>
          </a:p>
          <a:p>
            <a:pPr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Validate refund status before operational closure.</a:t>
            </a:r>
          </a:p>
          <a:p>
            <a:pPr>
              <a:spcAft>
                <a:spcPts val="900"/>
              </a:spcAft>
              <a:defRPr sz="1600">
                <a:solidFill>
                  <a:srgbClr val="222D37"/>
                </a:solidFill>
              </a:defRPr>
            </a:pPr>
            <a:r>
              <a:rPr lang="en-US" sz="1400" dirty="0"/>
              <a:t>• Standardize daily Excel/ERP operational reporting.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795AA7-3CB5-AC96-F078-144197F9C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1525" y="6356349"/>
            <a:ext cx="4114800" cy="365125"/>
          </a:xfrm>
        </p:spPr>
        <p:txBody>
          <a:bodyPr/>
          <a:lstStyle/>
          <a:p>
            <a:r>
              <a:rPr lang="en-US" dirty="0"/>
              <a:t>Reverse Logistics Operations &amp; Returns Performance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D8CAF7F-3345-2A6B-2BD8-4CACD230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6"/>
          </a:xfrm>
        </p:spPr>
        <p:txBody>
          <a:bodyPr/>
          <a:lstStyle/>
          <a:p>
            <a:r>
              <a:rPr lang="en-IN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75247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754BB7-FBAD-93B1-BA9B-2DF3B28EFCEA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136354-0D77-CF8E-72CA-1C65DAEDE9B7}"/>
              </a:ext>
            </a:extLst>
          </p:cNvPr>
          <p:cNvSpPr txBox="1"/>
          <p:nvPr/>
        </p:nvSpPr>
        <p:spPr>
          <a:xfrm>
            <a:off x="95250" y="238125"/>
            <a:ext cx="3724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7. Project Takeaway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99858-9393-EBF8-677D-BECBB9DF14C0}"/>
              </a:ext>
            </a:extLst>
          </p:cNvPr>
          <p:cNvSpPr txBox="1"/>
          <p:nvPr/>
        </p:nvSpPr>
        <p:spPr>
          <a:xfrm>
            <a:off x="9410700" y="238125"/>
            <a:ext cx="2686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bg1"/>
                </a:solidFill>
              </a:rPr>
              <a:t>Demonstrated capabilities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F2E0A-B585-5809-2C23-AD1E80B40F7A}"/>
              </a:ext>
            </a:extLst>
          </p:cNvPr>
          <p:cNvSpPr txBox="1"/>
          <p:nvPr/>
        </p:nvSpPr>
        <p:spPr>
          <a:xfrm>
            <a:off x="1190626" y="914400"/>
            <a:ext cx="9715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1">
                <a:solidFill>
                  <a:srgbClr val="0C3454"/>
                </a:solidFill>
              </a:defRPr>
            </a:pPr>
            <a:r>
              <a:rPr lang="en-US" sz="1600" dirty="0"/>
              <a:t>From raw transactions to an actionable supply-chain dashboard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C19F14-CF78-C61E-7743-00687C063784}"/>
              </a:ext>
            </a:extLst>
          </p:cNvPr>
          <p:cNvSpPr/>
          <p:nvPr/>
        </p:nvSpPr>
        <p:spPr>
          <a:xfrm>
            <a:off x="1076325" y="1943100"/>
            <a:ext cx="2105025" cy="148590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62D666-3ABB-3DB1-EA35-9AC101DA6650}"/>
              </a:ext>
            </a:extLst>
          </p:cNvPr>
          <p:cNvSpPr/>
          <p:nvPr/>
        </p:nvSpPr>
        <p:spPr>
          <a:xfrm>
            <a:off x="3671887" y="1943100"/>
            <a:ext cx="2105025" cy="148590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E96B41-C63B-BC89-4158-3B9CAD316B92}"/>
              </a:ext>
            </a:extLst>
          </p:cNvPr>
          <p:cNvSpPr/>
          <p:nvPr/>
        </p:nvSpPr>
        <p:spPr>
          <a:xfrm>
            <a:off x="6267449" y="1952625"/>
            <a:ext cx="2105025" cy="148590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372FF12-D2A3-51A6-CD23-E34ED1849E62}"/>
              </a:ext>
            </a:extLst>
          </p:cNvPr>
          <p:cNvSpPr/>
          <p:nvPr/>
        </p:nvSpPr>
        <p:spPr>
          <a:xfrm>
            <a:off x="8863011" y="1943100"/>
            <a:ext cx="2105025" cy="148590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4F304D-26B4-0852-51C9-BE065C79C935}"/>
              </a:ext>
            </a:extLst>
          </p:cNvPr>
          <p:cNvSpPr txBox="1"/>
          <p:nvPr/>
        </p:nvSpPr>
        <p:spPr>
          <a:xfrm>
            <a:off x="1228725" y="2161555"/>
            <a:ext cx="1800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Data Handling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22F0EF-6BD5-38AE-1C8A-BF9565812F8B}"/>
              </a:ext>
            </a:extLst>
          </p:cNvPr>
          <p:cNvSpPr txBox="1"/>
          <p:nvPr/>
        </p:nvSpPr>
        <p:spPr>
          <a:xfrm>
            <a:off x="1128815" y="2686050"/>
            <a:ext cx="2105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Clean, filter and summarize transactional records.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857C6B-6E64-77CE-EABF-D79C317EAF0F}"/>
              </a:ext>
            </a:extLst>
          </p:cNvPr>
          <p:cNvSpPr txBox="1"/>
          <p:nvPr/>
        </p:nvSpPr>
        <p:spPr>
          <a:xfrm>
            <a:off x="3819525" y="2157460"/>
            <a:ext cx="1695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Operational KPIs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268ED0-70A2-F2D7-3C99-CBB4E2B88E79}"/>
              </a:ext>
            </a:extLst>
          </p:cNvPr>
          <p:cNvSpPr txBox="1"/>
          <p:nvPr/>
        </p:nvSpPr>
        <p:spPr>
          <a:xfrm>
            <a:off x="3838574" y="2657475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Track volume, value, pending, refunds and cycle time.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962EAC-47B2-B59C-D6E0-3081B678C746}"/>
              </a:ext>
            </a:extLst>
          </p:cNvPr>
          <p:cNvSpPr txBox="1"/>
          <p:nvPr/>
        </p:nvSpPr>
        <p:spPr>
          <a:xfrm>
            <a:off x="6381750" y="2157460"/>
            <a:ext cx="1847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SLA Monitoring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648787-176B-85AB-CAE5-CCC985A756EA}"/>
              </a:ext>
            </a:extLst>
          </p:cNvPr>
          <p:cNvSpPr txBox="1"/>
          <p:nvPr/>
        </p:nvSpPr>
        <p:spPr>
          <a:xfrm>
            <a:off x="6381750" y="2657475"/>
            <a:ext cx="1847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Identify breaches and quantify compliance.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C7BBB0-781D-BFBF-BD09-2C1BD58BB015}"/>
              </a:ext>
            </a:extLst>
          </p:cNvPr>
          <p:cNvSpPr txBox="1"/>
          <p:nvPr/>
        </p:nvSpPr>
        <p:spPr>
          <a:xfrm>
            <a:off x="9020175" y="2657475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Translate findings into practical process improvements.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16BA62-F7AC-6C68-86AA-CDBAE1BD6D98}"/>
              </a:ext>
            </a:extLst>
          </p:cNvPr>
          <p:cNvSpPr txBox="1"/>
          <p:nvPr/>
        </p:nvSpPr>
        <p:spPr>
          <a:xfrm>
            <a:off x="2209800" y="4610100"/>
            <a:ext cx="7391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Thank you</a:t>
            </a:r>
          </a:p>
          <a:p>
            <a:pPr algn="ctr"/>
            <a:r>
              <a:rPr lang="en-IN" sz="1400" dirty="0"/>
              <a:t>This project demonstrates my ability to </a:t>
            </a:r>
            <a:r>
              <a:rPr lang="en-IN" sz="1400" dirty="0" err="1"/>
              <a:t>analyze</a:t>
            </a:r>
            <a:r>
              <a:rPr lang="en-IN" sz="1400" dirty="0"/>
              <a:t> operational data, monitor SLA performance, and identify opportunities to improve reverse-logistics processes.</a:t>
            </a:r>
          </a:p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6D0F8F-0C46-25CF-588A-10427276CE0A}"/>
              </a:ext>
            </a:extLst>
          </p:cNvPr>
          <p:cNvSpPr txBox="1"/>
          <p:nvPr/>
        </p:nvSpPr>
        <p:spPr>
          <a:xfrm>
            <a:off x="1504950" y="5543550"/>
            <a:ext cx="946308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/>
              <a:t>Excel • Supply Chain Operations • Reverse Logistics • SLA Performance</a:t>
            </a:r>
          </a:p>
          <a:p>
            <a:endParaRPr lang="en-IN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A554C9B6-82F0-9BF7-A009-23BBFFE7E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416873"/>
            <a:ext cx="4114800" cy="304602"/>
          </a:xfrm>
        </p:spPr>
        <p:txBody>
          <a:bodyPr/>
          <a:lstStyle/>
          <a:p>
            <a:r>
              <a:rPr lang="en-US" dirty="0"/>
              <a:t>Reverse Logistics Operations &amp; Returns Performance</a:t>
            </a:r>
            <a:endParaRPr lang="en-IN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F0FB38C-8E45-DDF4-7B5F-5371F4A32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16873"/>
            <a:ext cx="2743200" cy="334863"/>
          </a:xfrm>
        </p:spPr>
        <p:txBody>
          <a:bodyPr/>
          <a:lstStyle/>
          <a:p>
            <a:r>
              <a:rPr lang="en-IN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8E6661-A21A-185C-50A4-DCC0518D1C88}"/>
              </a:ext>
            </a:extLst>
          </p:cNvPr>
          <p:cNvSpPr txBox="1"/>
          <p:nvPr/>
        </p:nvSpPr>
        <p:spPr>
          <a:xfrm>
            <a:off x="9020175" y="2157460"/>
            <a:ext cx="1771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Business Action</a:t>
            </a:r>
          </a:p>
        </p:txBody>
      </p:sp>
    </p:spTree>
    <p:extLst>
      <p:ext uri="{BB962C8B-B14F-4D97-AF65-F5344CB8AC3E}">
        <p14:creationId xmlns:p14="http://schemas.microsoft.com/office/powerpoint/2010/main" val="2288154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620</Words>
  <Application>Microsoft Office PowerPoint</Application>
  <PresentationFormat>Widescreen</PresentationFormat>
  <Paragraphs>126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Sourav Patra</dc:creator>
  <cp:lastModifiedBy>Sourav Patra</cp:lastModifiedBy>
  <cp:revision>16</cp:revision>
  <dcterms:created xsi:type="dcterms:W3CDTF">2026-10-09T07:44:44Z</dcterms:created>
  <dcterms:modified xsi:type="dcterms:W3CDTF">2026-10-11T08:16:49Z</dcterms:modified>
</cp:coreProperties>
</file>